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444" autoAdjust="0"/>
  </p:normalViewPr>
  <p:slideViewPr>
    <p:cSldViewPr snapToGrid="0">
      <p:cViewPr varScale="1">
        <p:scale>
          <a:sx n="152" d="100"/>
          <a:sy n="152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70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09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26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8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9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83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43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1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56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725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663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0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0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795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4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5F80A4-4117-4B34-9E05-BED8ACF86C8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B86CB-5E8A-4E27-BA46-81A24E39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420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49E72F29-5907-758F-0796-F34FD8FFF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150" y="1266958"/>
            <a:ext cx="3106929" cy="4528457"/>
          </a:xfrm>
        </p:spPr>
        <p:txBody>
          <a:bodyPr anchor="ctr">
            <a:normAutofit/>
          </a:bodyPr>
          <a:lstStyle/>
          <a:p>
            <a:pPr algn="r"/>
            <a:r>
              <a:rPr lang="en-US" cap="none" dirty="0">
                <a:solidFill>
                  <a:schemeClr val="tx2"/>
                </a:solidFill>
              </a:rPr>
              <a:t>Team Name: Full Scale</a:t>
            </a:r>
          </a:p>
          <a:p>
            <a:pPr algn="r"/>
            <a:r>
              <a:rPr lang="en-IN" cap="none" dirty="0">
                <a:solidFill>
                  <a:schemeClr val="tx2"/>
                </a:solidFill>
              </a:rPr>
              <a:t>Presenter: Ritik Agarwal</a:t>
            </a:r>
            <a:br>
              <a:rPr lang="en-IN" cap="none" dirty="0">
                <a:solidFill>
                  <a:schemeClr val="tx2"/>
                </a:solidFill>
              </a:rPr>
            </a:br>
            <a:r>
              <a:rPr lang="en-IN" cap="none" dirty="0">
                <a:solidFill>
                  <a:schemeClr val="tx2"/>
                </a:solidFill>
              </a:rPr>
              <a:t>MTech, DSBA, IISc</a:t>
            </a:r>
          </a:p>
          <a:p>
            <a:pPr algn="r"/>
            <a:r>
              <a:rPr lang="en-IN" cap="none" dirty="0">
                <a:solidFill>
                  <a:schemeClr val="tx2"/>
                </a:solidFill>
              </a:rPr>
              <a:t>Course: E1 294o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22F16-D73F-CE6B-669C-CF723B1B5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dirty="0">
                <a:effectLst/>
              </a:rPr>
              <a:t>Hardware-Aware CNN Reduction, and </a:t>
            </a:r>
            <a:br>
              <a:rPr lang="en-US" sz="3600" b="0" dirty="0">
                <a:effectLst/>
              </a:rPr>
            </a:br>
            <a:r>
              <a:rPr lang="en-US" sz="3600" b="0" dirty="0">
                <a:effectLst/>
              </a:rPr>
              <a:t>Heterogeneous Inference Serving on Intel Lunar Lake AI PC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9D21F-E475-3150-E977-2854CD9680E7}"/>
              </a:ext>
            </a:extLst>
          </p:cNvPr>
          <p:cNvSpPr txBox="1"/>
          <p:nvPr/>
        </p:nvSpPr>
        <p:spPr>
          <a:xfrm>
            <a:off x="4654295" y="4762054"/>
            <a:ext cx="6037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 end-to-end pipeline from </a:t>
            </a:r>
            <a:r>
              <a:rPr lang="en-US" sz="1600" dirty="0" err="1"/>
              <a:t>PyTorch</a:t>
            </a:r>
            <a:r>
              <a:rPr lang="en-US" sz="1600" dirty="0"/>
              <a:t> models to optimized, </a:t>
            </a:r>
            <a:br>
              <a:rPr lang="en-US" sz="1600" dirty="0"/>
            </a:br>
            <a:r>
              <a:rPr lang="en-US" sz="1600" dirty="0"/>
              <a:t>multi-device inference serving on modern AI PCs.</a:t>
            </a:r>
            <a:endParaRPr lang="en-IN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0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397D-7A0F-2CE4-686D-96D0B26C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3851E-7C19-A155-0643-24C60BC3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Heterogeneous AI PC hardware (CPU, GPU, NPU) is hard to utilize efficiently with naive inference placement.</a:t>
            </a:r>
          </a:p>
          <a:p>
            <a:r>
              <a:rPr lang="en-US" dirty="0"/>
              <a:t>CNN optimization itself is costly: pruning-ratio selection and recovery fine-tuning can require many expensive trial runs.</a:t>
            </a:r>
          </a:p>
          <a:p>
            <a:r>
              <a:rPr lang="en-US" dirty="0"/>
              <a:t>So the problem is twofold:</a:t>
            </a:r>
          </a:p>
          <a:p>
            <a:pPr lvl="1"/>
            <a:r>
              <a:rPr lang="en-US" dirty="0"/>
              <a:t>Efficiently reduce CNNs without long, brute-force pruning workflows.</a:t>
            </a:r>
          </a:p>
          <a:p>
            <a:pPr lvl="1"/>
            <a:r>
              <a:rPr lang="en-US" dirty="0"/>
              <a:t>Efficiently serve reduced models across heterogeneous devices for maximum throughput.</a:t>
            </a:r>
          </a:p>
        </p:txBody>
      </p:sp>
    </p:spTree>
    <p:extLst>
      <p:ext uri="{BB962C8B-B14F-4D97-AF65-F5344CB8AC3E}">
        <p14:creationId xmlns:p14="http://schemas.microsoft.com/office/powerpoint/2010/main" val="299755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A0B-8E02-AC5E-EDF3-738C0008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Approach and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9D67-9284-E019-5C11-C4010309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one integrated pipeline:</a:t>
            </a:r>
          </a:p>
          <a:p>
            <a:pPr lvl="1"/>
            <a:r>
              <a:rPr lang="en-US" dirty="0"/>
              <a:t>Training harness for </a:t>
            </a:r>
            <a:r>
              <a:rPr lang="en-US"/>
              <a:t>model reduction.</a:t>
            </a:r>
            <a:endParaRPr lang="en-US" dirty="0"/>
          </a:p>
          <a:p>
            <a:pPr lvl="1"/>
            <a:r>
              <a:rPr lang="en-US" dirty="0"/>
              <a:t>Inference server for heterogeneous execution.</a:t>
            </a:r>
          </a:p>
          <a:p>
            <a:pPr lvl="1"/>
            <a:r>
              <a:rPr lang="en-US" dirty="0"/>
              <a:t>Benchmark harness for isolated + end-to-end performance analysis.</a:t>
            </a:r>
          </a:p>
          <a:p>
            <a:r>
              <a:rPr lang="en-US" dirty="0"/>
              <a:t>Key shift: avoid layer-splitting across devices; use request-level scheduling with full model per device.</a:t>
            </a:r>
          </a:p>
        </p:txBody>
      </p:sp>
    </p:spTree>
    <p:extLst>
      <p:ext uri="{BB962C8B-B14F-4D97-AF65-F5344CB8AC3E}">
        <p14:creationId xmlns:p14="http://schemas.microsoft.com/office/powerpoint/2010/main" val="2970665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167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Ion</vt:lpstr>
      <vt:lpstr>Hardware-Aware CNN Reduction, and  Heterogeneous Inference Serving on Intel Lunar Lake AI PC</vt:lpstr>
      <vt:lpstr>Problem Statement</vt:lpstr>
      <vt:lpstr>Project Approach and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Agrawal, Ritik</dc:creator>
  <cp:lastModifiedBy>Agrawal, Ritik</cp:lastModifiedBy>
  <cp:revision>1</cp:revision>
  <dcterms:created xsi:type="dcterms:W3CDTF">2026-04-11T06:50:21Z</dcterms:created>
  <dcterms:modified xsi:type="dcterms:W3CDTF">2026-04-11T07:18:10Z</dcterms:modified>
</cp:coreProperties>
</file>